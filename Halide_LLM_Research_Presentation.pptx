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sz="3600" b="1">
                <a:latin typeface="Times New Roman"/>
              </a:rPr>
              <a:t>LLM-Driven Halide Code Generation and Automated 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sz="2400" b="0">
                <a:latin typeface="Times New Roman"/>
              </a:rPr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Times New Roman"/>
              </a:rPr>
              <a:t>Goal → Use large language models to generate correct Halide (Python) image-processing programs.</a:t>
            </a:r>
          </a:p>
          <a:p>
            <a:pPr algn="l"/>
            <a:r>
              <a:rPr sz="2000" b="0">
                <a:latin typeface="Times New Roman"/>
              </a:rPr>
              <a:t>Auto-validate results on numerical &amp; image-based test cases.</a:t>
            </a:r>
          </a:p>
          <a:p>
            <a:pPr algn="l"/>
            <a:r>
              <a:rPr sz="2000" b="0">
                <a:latin typeface="Times New Roman"/>
              </a:rPr>
              <a:t>Feedback loop: Model → Code → Run → Validator → Feedback → Improved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1">
                <a:latin typeface="Times New Roman"/>
              </a:rPr>
              <a:t>Flow Diagram: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11680" cy="731520"/>
          </a:xfrm>
          <a:prstGeom prst="roundRect">
            <a:avLst/>
          </a:prstGeom>
          <a:solidFill>
            <a:srgbClr val="F0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latin typeface="Times New Roman"/>
              </a:rPr>
              <a:t>User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2011680" cy="731520"/>
          </a:xfrm>
          <a:prstGeom prst="roundRect">
            <a:avLst/>
          </a:prstGeom>
          <a:solidFill>
            <a:srgbClr val="F0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latin typeface="Times New Roman"/>
              </a:rPr>
              <a:t>HalidePipeline</a:t>
            </a:r>
          </a:p>
          <a:p>
            <a:pPr algn="l"/>
            <a:r>
              <a:rPr sz="1400" b="0">
                <a:latin typeface="Times New Roman"/>
              </a:rPr>
              <a:t>(LLM + reasoning)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011680" cy="731520"/>
          </a:xfrm>
          <a:prstGeom prst="roundRect">
            <a:avLst/>
          </a:prstGeom>
          <a:solidFill>
            <a:srgbClr val="F0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latin typeface="Times New Roman"/>
              </a:rPr>
              <a:t>Halide Code + Test Cases (JSON)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828800"/>
            <a:ext cx="2011680" cy="731520"/>
          </a:xfrm>
          <a:prstGeom prst="roundRect">
            <a:avLst/>
          </a:prstGeom>
          <a:solidFill>
            <a:srgbClr val="F0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latin typeface="Times New Roman"/>
              </a:rPr>
              <a:t>HalideValidatorLoop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828800"/>
            <a:ext cx="2011680" cy="731520"/>
          </a:xfrm>
          <a:prstGeom prst="roundRect">
            <a:avLst/>
          </a:prstGeom>
          <a:solidFill>
            <a:srgbClr val="F0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latin typeface="Times New Roman"/>
              </a:rPr>
              <a:t>Execution on test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28800"/>
            <a:ext cx="2011680" cy="731520"/>
          </a:xfrm>
          <a:prstGeom prst="roundRect">
            <a:avLst/>
          </a:prstGeom>
          <a:solidFill>
            <a:srgbClr val="F0F0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 b="0">
                <a:latin typeface="Times New Roman"/>
              </a:rPr>
              <a:t>Pass/Fail Feedback → LLM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Times New Roman"/>
              </a:rPr>
              <a:t/>
            </a:r>
          </a:p>
          <a:p>
            <a:pPr algn="l"/>
            <a:r>
              <a:rPr sz="2000" b="0">
                <a:latin typeface="Times New Roman"/>
              </a:rPr>
              <a:t>HalidePipeline (Chain-of-Thought reasoning)</a:t>
            </a:r>
          </a:p>
          <a:p>
            <a:pPr algn="l"/>
            <a:r>
              <a:rPr sz="2000" b="0">
                <a:latin typeface="Times New Roman"/>
              </a:rPr>
              <a:t>HalideValidatorLoop (execution + comparison)</a:t>
            </a:r>
          </a:p>
          <a:p>
            <a:pPr algn="l"/>
            <a:r>
              <a:rPr sz="2000" b="0">
                <a:latin typeface="Times New Roman"/>
              </a:rPr>
              <a:t>React loop for adaptive 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Times New Roman"/>
              </a:rPr>
              <a:t/>
            </a:r>
          </a:p>
          <a:p>
            <a:pPr algn="l"/>
            <a:r>
              <a:rPr sz="2000" b="0">
                <a:latin typeface="Times New Roman"/>
              </a:rPr>
              <a:t>Each round:</a:t>
            </a:r>
          </a:p>
          <a:p>
            <a:pPr algn="l"/>
            <a:r>
              <a:rPr sz="2000" b="0">
                <a:latin typeface="Times New Roman"/>
              </a:rPr>
              <a:t>• Generate code + test cases</a:t>
            </a:r>
          </a:p>
          <a:p>
            <a:pPr algn="l"/>
            <a:r>
              <a:rPr sz="2000" b="0">
                <a:latin typeface="Times New Roman"/>
              </a:rPr>
              <a:t>• Save input.png and expected_output.png</a:t>
            </a:r>
          </a:p>
          <a:p>
            <a:pPr algn="l"/>
            <a:r>
              <a:rPr sz="2000" b="0">
                <a:latin typeface="Times New Roman"/>
              </a:rPr>
              <a:t>• Run Halide code → output.png</a:t>
            </a:r>
          </a:p>
          <a:p>
            <a:pPr algn="l"/>
            <a:r>
              <a:rPr sz="2000" b="0">
                <a:latin typeface="Times New Roman"/>
              </a:rPr>
              <a:t>• Compare pixel-wise (mean &amp; max diff)</a:t>
            </a:r>
          </a:p>
          <a:p>
            <a:pPr algn="l"/>
            <a:r>
              <a:rPr sz="2000" b="0">
                <a:latin typeface="Times New Roman"/>
              </a:rPr>
              <a:t>• Pass/fail feedback sent back</a:t>
            </a:r>
          </a:p>
          <a:p>
            <a:pPr algn="l"/>
            <a:r>
              <a:rPr sz="2000" b="0">
                <a:latin typeface="Times New Roman"/>
              </a:rPr>
              <a:t/>
            </a:r>
          </a:p>
          <a:p>
            <a:pPr algn="l"/>
            <a:r>
              <a:rPr sz="2000" b="0">
                <a:latin typeface="Times New Roman"/>
              </a:rPr>
              <a:t>Example metrics:</a:t>
            </a:r>
          </a:p>
          <a:p>
            <a:pPr algn="l"/>
            <a:r>
              <a:rPr sz="2000" b="0">
                <a:latin typeface="Times New Roman"/>
              </a:rPr>
              <a:t>• Expected mean: 0.85</a:t>
            </a:r>
          </a:p>
          <a:p>
            <a:pPr algn="l"/>
            <a:r>
              <a:rPr sz="2000" b="0">
                <a:latin typeface="Times New Roman"/>
              </a:rPr>
              <a:t>• Actual mean:   0.846</a:t>
            </a:r>
          </a:p>
          <a:p>
            <a:pPr algn="l"/>
            <a:r>
              <a:rPr sz="2000" b="0">
                <a:latin typeface="Times New Roman"/>
              </a:rPr>
              <a:t>• Max diff: 0.078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48640">
                <a:tc>
                  <a:txBody>
                    <a:bodyPr/>
                    <a:lstStyle/>
                    <a:p>
                      <a:pPr>
                        <a:defRPr sz="1600" b="1">
                          <a:latin typeface="Times New Roman"/>
                        </a:defRPr>
                      </a:pPr>
                      <a:r>
                        <a:t>Successes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Times New Roman"/>
                        </a:defRPr>
                      </a:pPr>
                      <a:r>
                        <a:t>Challenges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LLM produced valid Halide code for multiple 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Occasional truncation &amp; syntax drift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Auto-execution validated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JSON outputs sometimes malformed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Feedback loop improved reliability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Unclamped expected values caused test mismatch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Test-image pipeline proved useful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latin typeface="Times New Roman"/>
                        </a:defRPr>
                      </a:pPr>
                      <a:r>
                        <a:t>LLM sometimes switched to C++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2000" b="0">
                <a:latin typeface="Times New Roman"/>
              </a:rPr>
              <a:t/>
            </a:r>
          </a:p>
          <a:p>
            <a:pPr algn="l"/>
            <a:r>
              <a:rPr sz="2000" b="0">
                <a:latin typeface="Times New Roman"/>
              </a:rPr>
              <a:t>Add scheduling optimizations (Halide vectorize, tile, parallel) to test performance.</a:t>
            </a:r>
          </a:p>
          <a:p>
            <a:pPr algn="l"/>
            <a:r>
              <a:rPr sz="2000" b="0">
                <a:latin typeface="Times New Roman"/>
              </a:rPr>
              <a:t>Introduce real-image benchmarks (blur, sharpen, tone-map).</a:t>
            </a:r>
          </a:p>
          <a:p>
            <a:pPr algn="l"/>
            <a:r>
              <a:rPr sz="2000" b="0">
                <a:latin typeface="Times New Roman"/>
              </a:rPr>
              <a:t>Explore multi-agent feedback: validator + static analyzer.</a:t>
            </a:r>
          </a:p>
          <a:p>
            <a:pPr algn="l"/>
            <a:r>
              <a:rPr sz="2000" b="0">
                <a:latin typeface="Times New Roman"/>
              </a:rPr>
              <a:t>Deploy pipeline as a web demo with visual diff viewer.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