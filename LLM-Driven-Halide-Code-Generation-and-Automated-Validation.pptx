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4630400" cy="8229600"/>
  <p:notesSz cx="8229600" cy="14630400"/>
  <p:embeddedFontLst>
    <p:embeddedFont>
      <p:font typeface="Bitter" panose="020B0604020202020204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D1F"/>
    <a:srgbClr val="393A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066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CC2A4-2E4E-C457-ED55-91D4DA1F8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96AFE-2B0B-C453-D264-D022BC99D4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09C2B-A20C-08A6-AA75-6BD270673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AA63B-F09D-9453-02AC-CBAF50359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735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sv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3891" y="756404"/>
            <a:ext cx="7836218" cy="583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50"/>
              </a:lnSpc>
              <a:buNone/>
            </a:pPr>
            <a:r>
              <a:rPr lang="en-US" sz="73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LLM-Driven Halide Code Generation and Automated Validation</a:t>
            </a:r>
            <a:endParaRPr lang="en-US" sz="7350" dirty="0"/>
          </a:p>
        </p:txBody>
      </p:sp>
      <p:sp>
        <p:nvSpPr>
          <p:cNvPr id="4" name="Text 1"/>
          <p:cNvSpPr/>
          <p:nvPr/>
        </p:nvSpPr>
        <p:spPr>
          <a:xfrm>
            <a:off x="653891" y="6875502"/>
            <a:ext cx="7836218" cy="597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Goal → Use large language models to generate correct Halide (Python) image-processing programs and auto-validate results on numerical &amp; image-based test cases. 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F491-6360-05C0-3E55-C1184DF5A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A6B67E6-3DF6-E03E-B33D-9DB7B6CECCF0}"/>
              </a:ext>
            </a:extLst>
          </p:cNvPr>
          <p:cNvSpPr/>
          <p:nvPr/>
        </p:nvSpPr>
        <p:spPr>
          <a:xfrm>
            <a:off x="793789" y="932526"/>
            <a:ext cx="67702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</a:rPr>
              <a:t>Why automate Halide code generation:</a:t>
            </a:r>
            <a:endParaRPr lang="en-US" sz="44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86E795-6C7D-6FB4-FFF8-AF96F95C0224}"/>
              </a:ext>
            </a:extLst>
          </p:cNvPr>
          <p:cNvSpPr/>
          <p:nvPr/>
        </p:nvSpPr>
        <p:spPr>
          <a:xfrm>
            <a:off x="12678937" y="7571678"/>
            <a:ext cx="1862253" cy="579863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B4145E8A-258E-61EF-1BE0-375F078CE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678" y="1802065"/>
            <a:ext cx="12288643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Writing </a:t>
            </a: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Halide programs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is powerful but difficult — its </a:t>
            </a: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functional style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declarative scheduling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, and </a:t>
            </a: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multi-stage pipelines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make even simple image operations verbose.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Small mistakes (e.g., wrong bounds, transposition, or scheduling) often lead to runtime errors or subtle performance bugs.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Developers and researchers waste time manually writing boilerplate for: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Declaring 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Unicode MS"/>
              </a:rPr>
              <a:t>Func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 Unicode MS"/>
              </a:rPr>
              <a:t>Var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and </a:t>
            </a:r>
            <a:r>
              <a:rPr lang="en-US" alt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Arial Unicode MS"/>
              </a:rPr>
              <a:t>ImageParam</a:t>
            </a: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Managing transpositions (CHW ↔ HWC)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Compiling and running small test cases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Goal: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Automate this process using an LLM that can: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Understand a natural-language description (e.g., “apply a 3×3 blur”),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Generate </a:t>
            </a: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correct, runnable Halide + Python code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And produce </a:t>
            </a:r>
            <a:r>
              <a:rPr lang="en-US" alt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test cases with expected outputs</a:t>
            </a:r>
            <a:r>
              <a:rPr lang="en-US" alt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for verification.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565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7335" y="461486"/>
            <a:ext cx="4196001" cy="524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System Architecture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87335" y="1321594"/>
            <a:ext cx="13455729" cy="268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system employs a continuous feedback loop to refine the generated Halide code, leveraging specialized modules for</a:t>
            </a:r>
          </a:p>
          <a:p>
            <a:pPr marL="0" indent="0" algn="l">
              <a:lnSpc>
                <a:spcPts val="2100"/>
              </a:lnSpc>
              <a:buNone/>
            </a:pPr>
            <a:r>
              <a:rPr lang="en-US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reasoning and validation.</a:t>
            </a:r>
            <a:endParaRPr lang="en-US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30" y="2082220"/>
            <a:ext cx="13024723" cy="3943973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26023" y="3023820"/>
            <a:ext cx="672769" cy="6727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26627" y="4822031"/>
            <a:ext cx="1964487" cy="7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Execute &amp;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63056" y="3025082"/>
            <a:ext cx="672770" cy="6727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50836" y="4816369"/>
            <a:ext cx="1964486" cy="7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Validator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</a:t>
            </a:r>
            <a:endParaRPr lang="en-US" sz="2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0721" y="3025082"/>
            <a:ext cx="672770" cy="67276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32956" y="4878729"/>
            <a:ext cx="1964486" cy="37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Code + Tests</a:t>
            </a:r>
            <a:endParaRPr lang="en-US" sz="2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538385" y="3025082"/>
            <a:ext cx="672769" cy="67276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956755" y="4740712"/>
            <a:ext cx="1964487" cy="37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Halide</a:t>
            </a:r>
            <a:endParaRPr lang="en-US" sz="2400" dirty="0"/>
          </a:p>
        </p:txBody>
      </p:sp>
      <p:sp>
        <p:nvSpPr>
          <p:cNvPr id="13" name="Text 6"/>
          <p:cNvSpPr/>
          <p:nvPr/>
        </p:nvSpPr>
        <p:spPr>
          <a:xfrm>
            <a:off x="3956755" y="5211457"/>
            <a:ext cx="1964487" cy="37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Pipeline</a:t>
            </a:r>
            <a:endParaRPr lang="en-US" sz="24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062594" y="3025082"/>
            <a:ext cx="672769" cy="672769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63271" y="4874129"/>
            <a:ext cx="1964486" cy="378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User Prompt</a:t>
            </a:r>
            <a:endParaRPr lang="en-US" sz="2400" dirty="0"/>
          </a:p>
        </p:txBody>
      </p:sp>
      <p:sp>
        <p:nvSpPr>
          <p:cNvPr id="16" name="Shape 8"/>
          <p:cNvSpPr/>
          <p:nvPr/>
        </p:nvSpPr>
        <p:spPr>
          <a:xfrm>
            <a:off x="564475" y="5911600"/>
            <a:ext cx="4373404" cy="1549837"/>
          </a:xfrm>
          <a:prstGeom prst="roundRect">
            <a:avLst>
              <a:gd name="adj" fmla="val 708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7" name="Shape 9"/>
          <p:cNvSpPr/>
          <p:nvPr/>
        </p:nvSpPr>
        <p:spPr>
          <a:xfrm>
            <a:off x="564475" y="5911600"/>
            <a:ext cx="91440" cy="1549837"/>
          </a:xfrm>
          <a:prstGeom prst="roundRect">
            <a:avLst>
              <a:gd name="adj" fmla="val 27533"/>
            </a:avLst>
          </a:prstGeom>
          <a:solidFill>
            <a:srgbClr val="9FA582"/>
          </a:solidFill>
          <a:ln/>
        </p:spPr>
      </p:sp>
      <p:sp>
        <p:nvSpPr>
          <p:cNvPr id="18" name="Text 10"/>
          <p:cNvSpPr/>
          <p:nvPr/>
        </p:nvSpPr>
        <p:spPr>
          <a:xfrm>
            <a:off x="802838" y="6155938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HalidePipeline</a:t>
            </a:r>
            <a:endParaRPr lang="en-US" sz="1650" dirty="0"/>
          </a:p>
        </p:txBody>
      </p:sp>
      <p:sp>
        <p:nvSpPr>
          <p:cNvPr id="19" name="Text 11"/>
          <p:cNvSpPr/>
          <p:nvPr/>
        </p:nvSpPr>
        <p:spPr>
          <a:xfrm>
            <a:off x="802838" y="6536868"/>
            <a:ext cx="3923586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Responsible for generating the initial code and test cases, incorporating Chain-of-Thought reasoning for better accuracy.</a:t>
            </a:r>
            <a:endParaRPr lang="en-US" sz="1300" dirty="0"/>
          </a:p>
        </p:txBody>
      </p:sp>
      <p:sp>
        <p:nvSpPr>
          <p:cNvPr id="20" name="Shape 12"/>
          <p:cNvSpPr/>
          <p:nvPr/>
        </p:nvSpPr>
        <p:spPr>
          <a:xfrm>
            <a:off x="5105638" y="5947108"/>
            <a:ext cx="4373404" cy="1549837"/>
          </a:xfrm>
          <a:prstGeom prst="roundRect">
            <a:avLst>
              <a:gd name="adj" fmla="val 708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105638" y="5947107"/>
            <a:ext cx="91440" cy="1549837"/>
          </a:xfrm>
          <a:prstGeom prst="roundRect">
            <a:avLst>
              <a:gd name="adj" fmla="val 27533"/>
            </a:avLst>
          </a:prstGeom>
          <a:solidFill>
            <a:srgbClr val="9FA582"/>
          </a:solidFill>
          <a:ln/>
        </p:spPr>
      </p:sp>
      <p:sp>
        <p:nvSpPr>
          <p:cNvPr id="22" name="Text 14"/>
          <p:cNvSpPr/>
          <p:nvPr/>
        </p:nvSpPr>
        <p:spPr>
          <a:xfrm>
            <a:off x="5387697" y="6188511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HalideValidatorLoop</a:t>
            </a:r>
            <a:endParaRPr lang="en-US" sz="1650" dirty="0"/>
          </a:p>
        </p:txBody>
      </p:sp>
      <p:sp>
        <p:nvSpPr>
          <p:cNvPr id="23" name="Text 15"/>
          <p:cNvSpPr/>
          <p:nvPr/>
        </p:nvSpPr>
        <p:spPr>
          <a:xfrm>
            <a:off x="5376267" y="6570908"/>
            <a:ext cx="3923586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Manages the execution of the generated code and the comparison of results against expected outputs.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9669660" y="5977585"/>
            <a:ext cx="4373404" cy="1549837"/>
          </a:xfrm>
          <a:prstGeom prst="roundRect">
            <a:avLst>
              <a:gd name="adj" fmla="val 7080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9637202" y="5955584"/>
            <a:ext cx="91440" cy="1549837"/>
          </a:xfrm>
          <a:prstGeom prst="roundRect">
            <a:avLst>
              <a:gd name="adj" fmla="val 27533"/>
            </a:avLst>
          </a:prstGeom>
          <a:solidFill>
            <a:srgbClr val="9FA582"/>
          </a:solidFill>
          <a:ln/>
        </p:spPr>
      </p:sp>
      <p:sp>
        <p:nvSpPr>
          <p:cNvPr id="26" name="Text 18"/>
          <p:cNvSpPr/>
          <p:nvPr/>
        </p:nvSpPr>
        <p:spPr>
          <a:xfrm>
            <a:off x="9928860" y="6187048"/>
            <a:ext cx="2098000" cy="262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React Loop</a:t>
            </a:r>
            <a:endParaRPr lang="en-US" sz="1650" dirty="0"/>
          </a:p>
        </p:txBody>
      </p:sp>
      <p:sp>
        <p:nvSpPr>
          <p:cNvPr id="27" name="Text 19"/>
          <p:cNvSpPr/>
          <p:nvPr/>
        </p:nvSpPr>
        <p:spPr>
          <a:xfrm>
            <a:off x="9928860" y="6570908"/>
            <a:ext cx="3923586" cy="537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Enables adaptive correction by feeding Pass/Fail results back to the LLM for iterative improvement.</a:t>
            </a:r>
            <a:endParaRPr lang="en-US" sz="1300" dirty="0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110E2E72-5B11-7F52-D822-C71D0AC40D34}"/>
              </a:ext>
            </a:extLst>
          </p:cNvPr>
          <p:cNvSpPr/>
          <p:nvPr/>
        </p:nvSpPr>
        <p:spPr>
          <a:xfrm>
            <a:off x="8830064" y="5190243"/>
            <a:ext cx="1964486" cy="7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Loop</a:t>
            </a:r>
          </a:p>
        </p:txBody>
      </p:sp>
      <p:sp>
        <p:nvSpPr>
          <p:cNvPr id="30" name="Text 3">
            <a:extLst>
              <a:ext uri="{FF2B5EF4-FFF2-40B4-BE49-F238E27FC236}">
                <a16:creationId xmlns:a16="http://schemas.microsoft.com/office/drawing/2014/main" id="{2B62D320-22C8-5778-3D4C-544AFD37C4EE}"/>
              </a:ext>
            </a:extLst>
          </p:cNvPr>
          <p:cNvSpPr/>
          <p:nvPr/>
        </p:nvSpPr>
        <p:spPr>
          <a:xfrm>
            <a:off x="11359086" y="5216347"/>
            <a:ext cx="1964486" cy="7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Feedback</a:t>
            </a:r>
          </a:p>
          <a:p>
            <a:pPr marL="0" indent="0" algn="ctr">
              <a:lnSpc>
                <a:spcPts val="1650"/>
              </a:lnSpc>
              <a:buNone/>
            </a:pPr>
            <a:r>
              <a:rPr lang="en-US" sz="24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 </a:t>
            </a:r>
            <a:endParaRPr lang="en-US" sz="2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BDBB8C2-B7C7-6381-A8F5-03E1B1FB65C6}"/>
              </a:ext>
            </a:extLst>
          </p:cNvPr>
          <p:cNvSpPr/>
          <p:nvPr/>
        </p:nvSpPr>
        <p:spPr>
          <a:xfrm>
            <a:off x="12701239" y="7649737"/>
            <a:ext cx="1929161" cy="579863"/>
          </a:xfrm>
          <a:prstGeom prst="rect">
            <a:avLst/>
          </a:prstGeom>
          <a:solidFill>
            <a:srgbClr val="393A3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D0AF9B-7DE3-5890-DD25-C6F5D04C5057}"/>
              </a:ext>
            </a:extLst>
          </p:cNvPr>
          <p:cNvSpPr/>
          <p:nvPr/>
        </p:nvSpPr>
        <p:spPr>
          <a:xfrm>
            <a:off x="12598792" y="7636179"/>
            <a:ext cx="2031608" cy="579863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7937" y="501134"/>
            <a:ext cx="4556760" cy="569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Validation Process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7937" y="1435060"/>
            <a:ext cx="133545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validation process is rigorous, ensuring both numerical and visual correctness of the generated image processing programs.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7937" y="1931670"/>
            <a:ext cx="182166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7937" y="2218492"/>
            <a:ext cx="4330065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6" name="Text 4"/>
          <p:cNvSpPr/>
          <p:nvPr/>
        </p:nvSpPr>
        <p:spPr>
          <a:xfrm>
            <a:off x="637937" y="2355294"/>
            <a:ext cx="2907983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Generate Code + Test Cases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37937" y="2749391"/>
            <a:ext cx="4330065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LLM produces the Halide code along with necessary test inputs and expected outputs.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150168" y="1931670"/>
            <a:ext cx="182166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50168" y="2218492"/>
            <a:ext cx="4330065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0" name="Text 8"/>
          <p:cNvSpPr/>
          <p:nvPr/>
        </p:nvSpPr>
        <p:spPr>
          <a:xfrm>
            <a:off x="5150168" y="2355294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Save Test Assets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150168" y="2749391"/>
            <a:ext cx="4330065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Input.png and expected_output.png are saved for the current validation round.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62398" y="1931670"/>
            <a:ext cx="182166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662398" y="2218492"/>
            <a:ext cx="4330065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2"/>
          <p:cNvSpPr/>
          <p:nvPr/>
        </p:nvSpPr>
        <p:spPr>
          <a:xfrm>
            <a:off x="9662398" y="2355294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Run Halide Code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662398" y="2749391"/>
            <a:ext cx="4330065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generated Halide code is executed, producing the actual output.png.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7937" y="3651409"/>
            <a:ext cx="182166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7937" y="3938230"/>
            <a:ext cx="6586180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8" name="Text 16"/>
          <p:cNvSpPr/>
          <p:nvPr/>
        </p:nvSpPr>
        <p:spPr>
          <a:xfrm>
            <a:off x="637937" y="4075033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Compare Pixel-Wise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637937" y="4469130"/>
            <a:ext cx="6586180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Numerical comparison is performed using mean and max difference metrics.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283" y="3651409"/>
            <a:ext cx="182166" cy="22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Outfit Light" pitchFamily="34" charset="0"/>
                <a:ea typeface="Outfit Light" pitchFamily="34" charset="-122"/>
                <a:cs typeface="Outfit Light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283" y="3938230"/>
            <a:ext cx="6586180" cy="2286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283" y="4075033"/>
            <a:ext cx="2278380" cy="284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Feedback Loop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406283" y="4469130"/>
            <a:ext cx="6586180" cy="583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Pass/fail feedback and error messages are sent back to the LLM to guide the next generation attempt.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7937" y="5394008"/>
            <a:ext cx="13354526" cy="1840111"/>
          </a:xfrm>
          <a:prstGeom prst="roundRect">
            <a:avLst>
              <a:gd name="adj" fmla="val 1486"/>
            </a:avLst>
          </a:prstGeom>
          <a:solidFill>
            <a:srgbClr val="2A2C2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03" y="5667970"/>
            <a:ext cx="227767" cy="18216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30035" y="5621655"/>
            <a:ext cx="1258026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Example metrics: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1230035" y="6077188"/>
            <a:ext cx="1258026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Expected mean: 0.85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230035" y="6432471"/>
            <a:ext cx="1258026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Actual mean: 0.846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30035" y="6787753"/>
            <a:ext cx="12580263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Max diff: 0.078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37937" y="7439144"/>
            <a:ext cx="13354526" cy="291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Visualization: show side-by-side input / expected / actual image thumbnails.</a:t>
            </a:r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52DBE42-BF53-B6AB-EB1B-5AB171394459}"/>
              </a:ext>
            </a:extLst>
          </p:cNvPr>
          <p:cNvSpPr/>
          <p:nvPr/>
        </p:nvSpPr>
        <p:spPr>
          <a:xfrm>
            <a:off x="12801600" y="7686317"/>
            <a:ext cx="1717288" cy="498872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9263"/>
            <a:ext cx="67702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Key Findings &amp; Challenges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8167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While the LLM-driven approach showed significant promise, several technical hurdles were identified during the validation phase.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894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6F7F71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Successes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793790" y="47415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LLM produced valid Halide code for multiple ops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89" y="6238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Auto-execution validated correctness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569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Feedback loop improved reliability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7232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Test-image pipeline proved useful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089440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9C9283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Challenges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474154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Occasional truncation &amp; syntax drift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18374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JSON outputs sometimes malformed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562594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Unclamped expected values caused test mismatch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606813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LLM sometimes switched to C++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69B9C-0D27-597C-81A8-B1DC53FDA542}"/>
              </a:ext>
            </a:extLst>
          </p:cNvPr>
          <p:cNvSpPr/>
          <p:nvPr/>
        </p:nvSpPr>
        <p:spPr>
          <a:xfrm>
            <a:off x="12678937" y="7571678"/>
            <a:ext cx="1862253" cy="579863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8560" y="2979301"/>
            <a:ext cx="3996333" cy="227099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7348" y="541615"/>
            <a:ext cx="4909780" cy="613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E1E5CD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Future Work</a:t>
            </a:r>
            <a:endParaRPr lang="en-US" sz="3850" dirty="0"/>
          </a:p>
        </p:txBody>
      </p:sp>
      <p:sp>
        <p:nvSpPr>
          <p:cNvPr id="5" name="Text 1"/>
          <p:cNvSpPr/>
          <p:nvPr/>
        </p:nvSpPr>
        <p:spPr>
          <a:xfrm>
            <a:off x="687348" y="1449943"/>
            <a:ext cx="7769304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next phase of development will focus on performance optimization, real-world benchmarking, and enhancing the feedback mechanism.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928" y="2304990"/>
            <a:ext cx="294561" cy="29456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325523" y="2298978"/>
            <a:ext cx="245483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Performance Testing</a:t>
            </a:r>
            <a:endParaRPr lang="en-US" sz="1900" dirty="0"/>
          </a:p>
        </p:txBody>
      </p:sp>
      <p:sp>
        <p:nvSpPr>
          <p:cNvPr id="8" name="Text 3"/>
          <p:cNvSpPr/>
          <p:nvPr/>
        </p:nvSpPr>
        <p:spPr>
          <a:xfrm>
            <a:off x="1325523" y="2723555"/>
            <a:ext cx="7131129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Add scheduling optimizations (Halide vectorize, tile, parallel) to test performance.</a:t>
            </a:r>
            <a:endParaRPr lang="en-US" sz="15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928" y="3750409"/>
            <a:ext cx="294561" cy="294561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25523" y="3744397"/>
            <a:ext cx="2766536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Real-Image Benchmarks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1325523" y="4168973"/>
            <a:ext cx="7131129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Introduce real-image benchmarks (blur, sharpen, tone-map) to evaluate practical utility.</a:t>
            </a:r>
            <a:endParaRPr lang="en-US" sz="15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928" y="5195828"/>
            <a:ext cx="294561" cy="29456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325523" y="5189815"/>
            <a:ext cx="2512814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Multi-Agent Feedback</a:t>
            </a:r>
            <a:endParaRPr lang="en-US" sz="1900" dirty="0"/>
          </a:p>
        </p:txBody>
      </p:sp>
      <p:sp>
        <p:nvSpPr>
          <p:cNvPr id="14" name="Text 7"/>
          <p:cNvSpPr/>
          <p:nvPr/>
        </p:nvSpPr>
        <p:spPr>
          <a:xfrm>
            <a:off x="1325523" y="5614392"/>
            <a:ext cx="7131129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Explore multi-agent feedback: validator + static analyzer for more comprehensive code review.</a:t>
            </a:r>
            <a:endParaRPr lang="en-US" sz="15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0928" y="6641247"/>
            <a:ext cx="294561" cy="294561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325523" y="6635234"/>
            <a:ext cx="245483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Outfit Bold" pitchFamily="34" charset="0"/>
                <a:ea typeface="Outfit Bold" pitchFamily="34" charset="-122"/>
                <a:cs typeface="Outfit Bold" pitchFamily="34" charset="-120"/>
              </a:rPr>
              <a:t>Web Deployment</a:t>
            </a:r>
            <a:endParaRPr lang="en-US" sz="1900" dirty="0"/>
          </a:p>
        </p:txBody>
      </p:sp>
      <p:sp>
        <p:nvSpPr>
          <p:cNvPr id="17" name="Text 9"/>
          <p:cNvSpPr/>
          <p:nvPr/>
        </p:nvSpPr>
        <p:spPr>
          <a:xfrm>
            <a:off x="1325523" y="7059811"/>
            <a:ext cx="7131129" cy="628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Deploy pipeline as a web demo with visual diff viewer for accessibility and demonstration.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564</Words>
  <Application>Microsoft Office PowerPoint</Application>
  <PresentationFormat>Custom</PresentationFormat>
  <Paragraphs>85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Bitter</vt:lpstr>
      <vt:lpstr>Arial Unicode MS</vt:lpstr>
      <vt:lpstr>Arial</vt:lpstr>
      <vt:lpstr>Outfit Bold</vt:lpstr>
      <vt:lpstr>Outfit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Cezan</dc:creator>
  <cp:lastModifiedBy>Cezan Damania</cp:lastModifiedBy>
  <cp:revision>3</cp:revision>
  <dcterms:created xsi:type="dcterms:W3CDTF">2025-11-11T04:04:33Z</dcterms:created>
  <dcterms:modified xsi:type="dcterms:W3CDTF">2025-11-11T07:47:22Z</dcterms:modified>
</cp:coreProperties>
</file>